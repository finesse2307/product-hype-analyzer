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Viral Product Hype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BCD4"/>
                </a:solidFill>
              </a:defRPr>
            </a:pPr>
            <a:r>
              <a:t>SQL Analysis of Social Media Trends &amp; Product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17373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BCD4"/>
                </a:solidFill>
              </a:defRPr>
            </a:pPr>
            <a:r>
              <a:t>12,011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Records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474720"/>
            <a:ext cx="17373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800%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690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Max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474720"/>
            <a:ext cx="17373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657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BCD4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690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474720"/>
            <a:ext cx="17373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690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SQL Analyses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Stanley Quencher  •  Owala FreeSip  •  Hydro Flask  •  YETI Rambler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77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Analysis Period: 2020-2024  |  SQL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BCD4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6217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731520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800" b="1">
                <a:solidFill>
                  <a:srgbClr val="19376D"/>
                </a:solidFill>
              </a:defRPr>
            </a:pPr>
            <a:r>
              <a:t>How do viral social media trends impact product sales?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6400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Unpredictable demand spikes from viral trends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No clear metrics for lifecycle measurement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Uncertain timing for inventory and investment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Unknown ROI from retail events and marketing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7315200" cy="109728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FC107"/>
                </a:solidFill>
              </a:defRPr>
            </a:pPr>
            <a:r>
              <a:t>SOLUTION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SQL analysis of 12,011 records combining Google Trends, TikTok engagement, stock prices, and retail events to identify predictable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00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0"/>
            <a:ext cx="8961120" cy="6127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#1: Predictable Viral Peaks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BCD4"/>
                </a:solidFill>
              </a:defRPr>
            </a:pPr>
            <a:r>
              <a:t>04</a:t>
            </a:r>
          </a:p>
        </p:txBody>
      </p:sp>
      <p:pic>
        <p:nvPicPr>
          <p:cNvPr id="5" name="Picture 4" descr="01_trend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49808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Stanley: 100/100 (Mar '23)  •  Owala: 95/100 (Jul '23)  •  Peak Duration: 7-14 days  •  Time to Peak: 3-6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#2: 800% Growth During Viral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pic>
        <p:nvPicPr>
          <p:cNvPr id="5" name="Picture 4" descr="02_pea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491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943600"/>
            <a:ext cx="73152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6949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9376D"/>
                </a:solidFill>
              </a:defRPr>
            </a:pPr>
            <a:r>
              <a:t>Max Growth: 800% WoW  •  Post-Peak Baseline: 15-20% of max  •  Stanley Today: 17/100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#3: Competitive Market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pic>
        <p:nvPicPr>
          <p:cNvPr id="5" name="Picture 4" descr="03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49808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943600"/>
            <a:ext cx="768096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Owala: 25.7%  •  Hydro Flask: 25.6%  •  Stanley: 25.2%  •  YETI: 23.4%  (Dec 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#4: Retail Events Drive +9% Average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BCD4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04_even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698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7280" y="5943600"/>
            <a:ext cx="6949440" cy="73152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035040"/>
            <a:ext cx="6583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Launch Events: +8.6%  •  Sellouts: +6.4%  •  Resale Premium: 150-250%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#5: TikTok Engagement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05_tiktok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2594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943600"/>
            <a:ext cx="731520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6949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Engagement: 2.5-3.5%  •  Sentiment: 0.58-0.72  •  #stanleycup: 500M+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SQL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BCD4"/>
                </a:solidFill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6217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9376D"/>
                </a:solidFill>
              </a:defRPr>
            </a:pPr>
            <a:r>
              <a:t>DATABASE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social_trends: 7,308 records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tiktok_metrics: 1,036 records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stock_prices: 3,654 records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retail_events: 9 records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products: 4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84048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0BCD4"/>
                </a:solidFill>
              </a:defRPr>
            </a:pPr>
            <a:r>
              <a:t>SQL TECHNIQUES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Window Functions (LAG, LEAD, ROW_NUMBER)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Common Table Expressions (CTEs)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Event-Based Windowing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Date Calculations (JULIANDAY)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Statistical Aggregations</a:t>
            </a:r>
          </a:p>
          <a:p>
            <a:pPr>
              <a:spcBef>
                <a:spcPts val="700"/>
              </a:spcBef>
              <a:defRPr sz="1300">
                <a:solidFill>
                  <a:srgbClr val="212121"/>
                </a:solidFill>
              </a:defRPr>
            </a:pPr>
            <a:r>
              <a:t>Market Share Calculations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3657600" cy="521208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500"/>
              </a:spcAft>
              <a:defRPr sz="1800" b="1">
                <a:solidFill>
                  <a:srgbClr val="FFC107"/>
                </a:solidFill>
              </a:defRPr>
            </a:pPr>
            <a:r>
              <a:t>10 ANALYSES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1. Peak Detection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2. Momentum Analysis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3. Market Share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4. Event Impact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5. Hype Lifecycle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6. Stock Correlation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7. Investment Timing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8. Influencer Score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9. Saturation Detection</a:t>
            </a:r>
          </a:p>
          <a:p>
            <a:pPr>
              <a:spcBef>
                <a:spcPts val="900"/>
              </a:spcBef>
              <a:defRPr sz="1400">
                <a:solidFill>
                  <a:srgbClr val="FFFFFF"/>
                </a:solidFill>
              </a:defRPr>
            </a:pPr>
            <a:r>
              <a:t>10. Executive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6217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6576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376D"/>
                </a:solidFill>
              </a:defRPr>
            </a:pPr>
            <a:r>
              <a:t>📦 Inventory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Forecast demand 2-3 weeks 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26080"/>
            <a:ext cx="3108960" cy="45720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79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Accuracy: +30%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97280"/>
            <a:ext cx="36576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80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CD4"/>
                </a:solidFill>
              </a:defRPr>
            </a:pPr>
            <a:r>
              <a:t>💰 Investment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Entry points 30-60 days pre-peak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926080"/>
            <a:ext cx="3108960" cy="4572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97179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Window: Optimal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6576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C107"/>
                </a:solidFill>
              </a:defRPr>
            </a:pPr>
            <a:r>
              <a:t>📢 Marketing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Time events during growth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669280"/>
            <a:ext cx="310896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71499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Lift: +9%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840480"/>
            <a:ext cx="36576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023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376D"/>
                </a:solidFill>
              </a:defRPr>
            </a:pPr>
            <a:r>
              <a:t>🎯 Competitive Intel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Track market share 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5669280"/>
            <a:ext cx="3108960" cy="457200"/>
          </a:xfrm>
          <a:prstGeom prst="round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71499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Leader: 25.7%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20240"/>
            <a:ext cx="69494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Bef>
                <a:spcPts val="1200"/>
              </a:spcBef>
              <a:defRPr sz="1700">
                <a:solidFill>
                  <a:srgbClr val="212121"/>
                </a:solidFill>
              </a:defRPr>
            </a:pPr>
            <a:r>
              <a:t>Viral products follow predictable 3-6 month cycles</a:t>
            </a:r>
          </a:p>
          <a:p>
            <a:pPr>
              <a:spcBef>
                <a:spcPts val="1200"/>
              </a:spcBef>
              <a:defRPr sz="1700">
                <a:solidFill>
                  <a:srgbClr val="212121"/>
                </a:solidFill>
              </a:defRPr>
            </a:pPr>
            <a:r>
              <a:t>Peak growth reaches 800% WoW; stabilizes at 15-20%</a:t>
            </a:r>
          </a:p>
          <a:p>
            <a:pPr>
              <a:spcBef>
                <a:spcPts val="1200"/>
              </a:spcBef>
              <a:defRPr sz="1700">
                <a:solidFill>
                  <a:srgbClr val="212121"/>
                </a:solidFill>
              </a:defRPr>
            </a:pPr>
            <a:r>
              <a:t>Retail events generate measurable +9% lift</a:t>
            </a:r>
          </a:p>
          <a:p>
            <a:pPr>
              <a:spcBef>
                <a:spcPts val="1200"/>
              </a:spcBef>
              <a:defRPr sz="1700">
                <a:solidFill>
                  <a:srgbClr val="212121"/>
                </a:solidFill>
              </a:defRPr>
            </a:pPr>
            <a:r>
              <a:t>Market highly competitive with 23-26% shares</a:t>
            </a:r>
          </a:p>
          <a:p>
            <a:pPr>
              <a:spcBef>
                <a:spcPts val="1200"/>
              </a:spcBef>
              <a:defRPr sz="1700">
                <a:solidFill>
                  <a:srgbClr val="212121"/>
                </a:solidFill>
              </a:defRPr>
            </a:pPr>
            <a:r>
              <a:t>TikTok engagement &gt;2.5% signals viral potential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6949440" cy="1645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376D"/>
                </a:solidFill>
              </a:defRPr>
            </a:pPr>
            <a:r>
              <a:t>RECOMMENDATIONS</a:t>
            </a:r>
          </a:p>
          <a:p>
            <a:pPr>
              <a:spcBef>
                <a:spcPts val="800"/>
              </a:spcBef>
              <a:defRPr sz="1500">
                <a:solidFill>
                  <a:srgbClr val="19376D"/>
                </a:solidFill>
              </a:defRPr>
            </a:pPr>
            <a:r>
              <a:t>Monitor TikTok velocity for 2-3 week forecasts</a:t>
            </a:r>
          </a:p>
          <a:p>
            <a:pPr>
              <a:spcBef>
                <a:spcPts val="800"/>
              </a:spcBef>
              <a:defRPr sz="1500">
                <a:solidFill>
                  <a:srgbClr val="19376D"/>
                </a:solidFill>
              </a:defRPr>
            </a:pPr>
            <a:r>
              <a:t>Time limited editions during 20-80% growth phase</a:t>
            </a:r>
          </a:p>
          <a:p>
            <a:pPr>
              <a:spcBef>
                <a:spcPts val="800"/>
              </a:spcBef>
              <a:defRPr sz="1500">
                <a:solidFill>
                  <a:srgbClr val="19376D"/>
                </a:solidFill>
              </a:defRPr>
            </a:pPr>
            <a:r>
              <a:t>Track competitive shifts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Complete analysis available on GitHub  •  December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